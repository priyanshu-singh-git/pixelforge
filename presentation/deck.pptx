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Hook" id="{0a4487c6-e091-95be-09bc-20561730b73b}">
          <p14:sldIdLst>
            <p14:sldId id="256"/>
          </p14:sldIdLst>
        </p14:section>
        <p14:section name="Problem" id="{34acb0de-a7b7-515d-b37e-5f5b79c49185}">
          <p14:sldIdLst>
            <p14:sldId id="257"/>
          </p14:sldIdLst>
        </p14:section>
        <p14:section name="Solution" id="{d5148b95-8f14-7e8b-7e4c-40bca8362257}">
          <p14:sldIdLst>
            <p14:sldId id="258"/>
          </p14:sldIdLst>
        </p14:section>
        <p14:section name="Results" id="{6b9b5ee6-181b-978c-5c7b-a0ae188155bb}">
          <p14:sldIdLst>
            <p14:sldId id="259"/>
            <p14:sldId id="260"/>
            <p14:sldId id="261"/>
          </p14:sldIdLst>
        </p14:section>
        <p14:section name="Working together" id="{ed819ad2-2745-d39b-7381-6047e3301d3f}">
          <p14:sldIdLst>
            <p14:sldId id="262"/>
          </p14:sldIdLst>
        </p14:section>
        <p14:section name="Call to action" id="{a3c9a77d-bf7c-c920-7aeb-f06705fb4053}">
          <p14:sldIdLst>
            <p14:sldId id="263"/>
          </p14:sldIdLst>
        </p14:section>
        <p14:section name="Appendix" id="{8f2357f6-d9d1-bfbc-9412-38fbf14cb15a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0-8s: drag the before/after slider on an old texture. 'Same texture, 4x the detail.'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Remastering means redrawing thousands of textures; resizing blurs; generic AI isn't tuned for game 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demo: pick a texture, drag the slider, toggle 'vs True HD', download the PNG.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number that proves it works: closer to the real HD texture than bicubic, at a fraction of the big model's size.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Technical peek: the training trick is damaging clean textures on purpose so the model learns to undo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three textures live; toggle 'vs True HD' to show it's honest.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Lower the risk: a small test pack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live demo is linked. Send me ten textures and I'll send them back in HD.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technical buyers: architectures compared, L1 vs GAN, and the official Real-ESRGAN models as references.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PixelForge · 4× game texture upscaler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priyanshu-singh-git.github.io/pixelforge/" TargetMode="External"/><Relationship Id="rId3" Type="http://schemas.openxmlformats.org/officeDocument/2006/relationships/hyperlink" Target="https://github.com/Priyanshu-Singh-git/pixelforge" TargetMode="External"/><Relationship Id="rId1" Type="http://schemas.openxmlformats.org/officeDocument/2006/relationships/image" Target="../media/image-8-1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efore/after hero" descr="A game texture: left half bicubic upscale, right half PixelForge 4x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3855" y="868680"/>
            <a:ext cx="5120640" cy="51206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097280"/>
            <a:ext cx="57451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FOR GAME ARTISTS &amp; MODDERS</a:t>
            </a:r>
            <a:endParaRPr lang="en-US" sz="1800" dirty="0"/>
          </a:p>
        </p:txBody>
      </p:sp>
      <p:sp>
        <p:nvSpPr>
          <p:cNvPr id="4" name="Product name"/>
          <p:cNvSpPr txBox="1"/>
          <p:nvPr/>
        </p:nvSpPr>
        <p:spPr>
          <a:xfrm>
            <a:off x="548640" y="1600200"/>
            <a:ext cx="57451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PixelForge</a:t>
            </a:r>
            <a:endParaRPr lang="en-US" sz="6600" dirty="0"/>
          </a:p>
        </p:txBody>
      </p:sp>
      <p:sp>
        <p:nvSpPr>
          <p:cNvPr id="5" name="USP"/>
          <p:cNvSpPr txBox="1"/>
          <p:nvPr/>
        </p:nvSpPr>
        <p:spPr>
          <a:xfrm>
            <a:off x="548640" y="2834640"/>
            <a:ext cx="57451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Old game textures in.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4× HD out.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48640" y="4572000"/>
            <a:ext cx="1371600" cy="502920"/>
          </a:xfrm>
          <a:prstGeom prst="roundRect">
            <a:avLst>
              <a:gd name="adj" fmla="val 49091"/>
            </a:avLst>
          </a:prstGeom>
          <a:solidFill>
            <a:schemeClr val="bg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457200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4× upscale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057400" y="4572000"/>
            <a:ext cx="2194560" cy="502920"/>
          </a:xfrm>
          <a:prstGeom prst="roundRect">
            <a:avLst>
              <a:gd name="adj" fmla="val 49091"/>
            </a:avLst>
          </a:prstGeom>
          <a:solidFill>
            <a:schemeClr val="bg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057400" y="45720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Trained on game art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4389120" y="4572000"/>
            <a:ext cx="1828800" cy="502920"/>
          </a:xfrm>
          <a:prstGeom prst="roundRect">
            <a:avLst>
              <a:gd name="adj" fmla="val 49091"/>
            </a:avLst>
          </a:prstGeom>
          <a:solidFill>
            <a:schemeClr val="bg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389120" y="45720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Runs in browser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HD screens expose every old texture.</a:t>
            </a:r>
            <a:endParaRPr lang="en-US" sz="3400" dirty="0"/>
          </a:p>
        </p:txBody>
      </p:sp>
      <p:sp>
        <p:nvSpPr>
          <p:cNvPr id="4" name="Problem 1"/>
          <p:cNvSpPr/>
          <p:nvPr/>
        </p:nvSpPr>
        <p:spPr>
          <a:xfrm>
            <a:off x="548640" y="2011680"/>
            <a:ext cx="3483864" cy="288036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23317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926080"/>
            <a:ext cx="28437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Remasters need thousands of textures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703320"/>
            <a:ext cx="28437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Redrawing every wall, floor and prop by hand is the slowest, most expensive part of a remaster or HD mod.</a:t>
            </a:r>
            <a:endParaRPr lang="en-US" sz="1500" dirty="0"/>
          </a:p>
        </p:txBody>
      </p:sp>
      <p:sp>
        <p:nvSpPr>
          <p:cNvPr id="9" name="Problem 2"/>
          <p:cNvSpPr/>
          <p:nvPr/>
        </p:nvSpPr>
        <p:spPr>
          <a:xfrm>
            <a:off x="4352544" y="2011680"/>
            <a:ext cx="3483864" cy="288036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72584" y="23317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72584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672584" y="2926080"/>
            <a:ext cx="28437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 resizing just blurs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672584" y="3703320"/>
            <a:ext cx="28437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Stretching a texture 4× with bicubic gives soft, muddy surfaces that look worse on a modern monitor.</a:t>
            </a:r>
            <a:endParaRPr lang="en-US" sz="1500" dirty="0"/>
          </a:p>
        </p:txBody>
      </p:sp>
      <p:sp>
        <p:nvSpPr>
          <p:cNvPr id="14" name="Problem 3"/>
          <p:cNvSpPr/>
          <p:nvPr/>
        </p:nvSpPr>
        <p:spPr>
          <a:xfrm>
            <a:off x="8156448" y="2011680"/>
            <a:ext cx="3483864" cy="288036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76488" y="23317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76488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476488" y="2926080"/>
            <a:ext cx="28437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Generic AI upscalers aren't tuned for games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476488" y="3703320"/>
            <a:ext cx="28437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Tools trained on photos can smear tiling patterns or invent the wrong kind of detail.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3035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2"/>
                </a:solidFill>
              </a:rPr>
              <a:t>PixelForge does the first pass for you: </a:t>
            </a:r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seconds per texture, in your browser.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IT YOURSELF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 in a texture. Drag the slider.</a:t>
            </a:r>
            <a:endParaRPr lang="en-US" sz="3400" dirty="0"/>
          </a:p>
        </p:txBody>
      </p:sp>
      <p:sp>
        <p:nvSpPr>
          <p:cNvPr id="4" name="Screenshot frame"/>
          <p:cNvSpPr/>
          <p:nvPr/>
        </p:nvSpPr>
        <p:spPr>
          <a:xfrm>
            <a:off x="548640" y="1783080"/>
            <a:ext cx="6949440" cy="4434840"/>
          </a:xfrm>
          <a:prstGeom prst="roundRect">
            <a:avLst>
              <a:gd name="adj" fmla="val 2474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5" name="Demo screenshot" descr="PixelForge web app with a before/after sli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79464" y="1920240"/>
            <a:ext cx="5087791" cy="4160520"/>
          </a:xfrm>
          <a:prstGeom prst="rect">
            <a:avLst/>
          </a:prstGeom>
        </p:spPr>
      </p:pic>
      <p:sp>
        <p:nvSpPr>
          <p:cNvPr id="6" name="Point 1"/>
          <p:cNvSpPr/>
          <p:nvPr/>
        </p:nvSpPr>
        <p:spPr>
          <a:xfrm>
            <a:off x="7818120" y="1783080"/>
            <a:ext cx="3824935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046720" y="20116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04672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686800" y="1965960"/>
            <a:ext cx="27733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Before/after slider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686800" y="2377440"/>
            <a:ext cx="27733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Compare against bicubic, the original pixels, or the true HD texture.</a:t>
            </a:r>
            <a:endParaRPr lang="en-US" sz="1300" dirty="0"/>
          </a:p>
        </p:txBody>
      </p:sp>
      <p:sp>
        <p:nvSpPr>
          <p:cNvPr id="11" name="Point 2"/>
          <p:cNvSpPr/>
          <p:nvPr/>
        </p:nvSpPr>
        <p:spPr>
          <a:xfrm>
            <a:off x="7818120" y="3337560"/>
            <a:ext cx="3824935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046720" y="35661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04672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8686800" y="3520440"/>
            <a:ext cx="27733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in your browser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0" y="3931920"/>
            <a:ext cx="27733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No upload, no server, no install. Your art never leaves your machine.</a:t>
            </a:r>
            <a:endParaRPr lang="en-US" sz="1300" dirty="0"/>
          </a:p>
        </p:txBody>
      </p:sp>
      <p:sp>
        <p:nvSpPr>
          <p:cNvPr id="16" name="Point 3"/>
          <p:cNvSpPr/>
          <p:nvPr/>
        </p:nvSpPr>
        <p:spPr>
          <a:xfrm>
            <a:off x="7818120" y="4892040"/>
            <a:ext cx="3824935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046720" y="51206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046720" y="5120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8686800" y="5074920"/>
            <a:ext cx="27733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Download the HD file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8686800" y="5486400"/>
            <a:ext cx="27733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Large images are processed in tiles; get a 4× PNG in seconds (2.3 s for a 512×512 result in a laptop browser).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Looks like real HD. Small enough for a browser.</a:t>
            </a:r>
            <a:endParaRPr lang="en-US" sz="3400" dirty="0"/>
          </a:p>
        </p:txBody>
      </p:sp>
      <p:sp>
        <p:nvSpPr>
          <p:cNvPr id="4" name="Stat 1"/>
          <p:cNvSpPr/>
          <p:nvPr/>
        </p:nvSpPr>
        <p:spPr>
          <a:xfrm>
            <a:off x="548640" y="1783080"/>
            <a:ext cx="3483864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965960"/>
            <a:ext cx="2935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41%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770632"/>
            <a:ext cx="2935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closer to the real HD look than bicubic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accent5"/>
                </a:solidFill>
              </a:rPr>
              <a:t>LPIPS perceptual distance, 60 unseen game textures</a:t>
            </a:r>
            <a:endParaRPr lang="en-US" sz="1350" dirty="0"/>
          </a:p>
        </p:txBody>
      </p:sp>
      <p:sp>
        <p:nvSpPr>
          <p:cNvPr id="7" name="Stat 2"/>
          <p:cNvSpPr/>
          <p:nvPr/>
        </p:nvSpPr>
        <p:spPr>
          <a:xfrm>
            <a:off x="4352544" y="1783080"/>
            <a:ext cx="3483864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26864" y="1965960"/>
            <a:ext cx="2935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15× smaller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4626864" y="2770632"/>
            <a:ext cx="2935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than Real-ESRGAN (1.1M vs 16.7M parameters)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accent5"/>
                </a:solidFill>
              </a:rPr>
              <a:t>LPIPS 0.414 vs 0.454 (lower is better)</a:t>
            </a:r>
            <a:endParaRPr lang="en-US" sz="1350" dirty="0"/>
          </a:p>
        </p:txBody>
      </p:sp>
      <p:sp>
        <p:nvSpPr>
          <p:cNvPr id="10" name="Stat 3"/>
          <p:cNvSpPr/>
          <p:nvPr/>
        </p:nvSpPr>
        <p:spPr>
          <a:xfrm>
            <a:off x="8156448" y="1783080"/>
            <a:ext cx="3483864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30768" y="1965960"/>
            <a:ext cx="2935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 s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8430768" y="2770632"/>
            <a:ext cx="2935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to upscale a texture 4× in a laptop browser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accent5"/>
                </a:solidFill>
              </a:rPr>
              <a:t>128×128 → 512×512, no GPU, no upload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3794760"/>
            <a:ext cx="11091672" cy="2423160"/>
          </a:xfrm>
          <a:prstGeom prst="roundRect">
            <a:avLst>
              <a:gd name="adj" fmla="val 4528"/>
            </a:avLst>
          </a:prstGeom>
          <a:solidFill>
            <a:srgbClr val="FFFFFF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4" name="Zoom comparison" descr="Zoomed crops: input, bicubic, Real-ESRGAN, PixelForge, true H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915461"/>
            <a:ext cx="10908792" cy="218175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Trained to undo old-texture damage.</a:t>
            </a:r>
            <a:endParaRPr lang="en-US" sz="3400" dirty="0"/>
          </a:p>
        </p:txBody>
      </p:sp>
      <p:sp>
        <p:nvSpPr>
          <p:cNvPr id="4" name="Step 1"/>
          <p:cNvSpPr/>
          <p:nvPr/>
        </p:nvSpPr>
        <p:spPr>
          <a:xfrm>
            <a:off x="548640" y="2057400"/>
            <a:ext cx="3361944" cy="265176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3317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971800"/>
            <a:ext cx="2813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 game textures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520440"/>
            <a:ext cx="28133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738 free (CC0) textures: bricks, wood, metal, ground, fabric, stone.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020312" y="3246120"/>
            <a:ext cx="283464" cy="27432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10" name="Step 2"/>
          <p:cNvSpPr/>
          <p:nvPr/>
        </p:nvSpPr>
        <p:spPr>
          <a:xfrm>
            <a:off x="4413504" y="2057400"/>
            <a:ext cx="3361944" cy="265176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87824" y="23317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687824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687824" y="2971800"/>
            <a:ext cx="2813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Damage them on purpose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87824" y="3520440"/>
            <a:ext cx="28133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Blur, downscale, noise and JPEG compression, applied at random, the way old assets get degraded.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885176" y="3246120"/>
            <a:ext cx="283464" cy="27432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16" name="Step 3"/>
          <p:cNvSpPr/>
          <p:nvPr/>
        </p:nvSpPr>
        <p:spPr>
          <a:xfrm>
            <a:off x="8278368" y="2057400"/>
            <a:ext cx="3361944" cy="265176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52688" y="23317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552688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552688" y="2971800"/>
            <a:ext cx="2813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 to undo it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552688" y="3520440"/>
            <a:ext cx="28133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 compact generator learns to rebuild the missing detail at 4×, sharpened with a GAN stage.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1206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For engineers: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compact ESRGAN-style RRDB generator (1.1M params) trained from scratch in PyTorch: L1 stage, then VGG-perceptual + U-Net-discriminator GAN stage with EMA (Real-ESRGAN recipe), exported to ONNX. Benchmarks are in the appendix.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RESULTS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Representative, not cherry-picked.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Median-improvement textures, different materials, zoomed. PixelForge clears noise and JPEG blocks; detail the tiny input no longer has can't be fully recovered.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11091672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6" name="Gallery" descr="Zoomed comparisons for three textur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1676" y="2103120"/>
            <a:ext cx="6705600" cy="40233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WE'D WORK TOGETHER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a test pack. Scale to the whole library.</a:t>
            </a:r>
            <a:endParaRPr lang="en-US" sz="3400" dirty="0"/>
          </a:p>
        </p:txBody>
      </p:sp>
      <p:sp>
        <p:nvSpPr>
          <p:cNvPr id="4" name="Work step 1"/>
          <p:cNvSpPr/>
          <p:nvPr/>
        </p:nvSpPr>
        <p:spPr>
          <a:xfrm>
            <a:off x="548640" y="2011680"/>
            <a:ext cx="3483864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2860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</a:rPr>
              <a:t>STEP 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651760"/>
            <a:ext cx="2843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 10–20 textures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200400"/>
            <a:ext cx="28437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 representative sample of your game's textures or asset pack.</a:t>
            </a:r>
            <a:endParaRPr lang="en-US" sz="1500" dirty="0"/>
          </a:p>
        </p:txBody>
      </p:sp>
      <p:sp>
        <p:nvSpPr>
          <p:cNvPr id="8" name="Work step 2"/>
          <p:cNvSpPr/>
          <p:nvPr/>
        </p:nvSpPr>
        <p:spPr>
          <a:xfrm>
            <a:off x="4352544" y="2011680"/>
            <a:ext cx="3483864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72584" y="22860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</a:rPr>
              <a:t>STEP 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672584" y="2651760"/>
            <a:ext cx="2843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pack back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672584" y="3200400"/>
            <a:ext cx="28437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I upscale them, optionally fine-tune on your art style, and send before/after comparisons.</a:t>
            </a:r>
            <a:endParaRPr lang="en-US" sz="1500" dirty="0"/>
          </a:p>
        </p:txBody>
      </p:sp>
      <p:sp>
        <p:nvSpPr>
          <p:cNvPr id="12" name="Work step 3"/>
          <p:cNvSpPr/>
          <p:nvPr/>
        </p:nvSpPr>
        <p:spPr>
          <a:xfrm>
            <a:off x="8156448" y="2011680"/>
            <a:ext cx="3483864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76488" y="22860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</a:rPr>
              <a:t>STEP 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476488" y="2651760"/>
            <a:ext cx="2843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Batch the library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8476488" y="3200400"/>
            <a:ext cx="28437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Folder in, folder out, file names kept, ready to drop into your mod or engine.</a:t>
            </a:r>
            <a:endParaRPr lang="en-US" sz="1500" dirty="0"/>
          </a:p>
        </p:txBody>
      </p:sp>
      <p:sp>
        <p:nvSpPr>
          <p:cNvPr id="16" name="What you get"/>
          <p:cNvSpPr/>
          <p:nvPr/>
        </p:nvSpPr>
        <p:spPr>
          <a:xfrm>
            <a:off x="548640" y="4800600"/>
            <a:ext cx="11091672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8680" y="4937760"/>
            <a:ext cx="10424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What you get:  </a:t>
            </a:r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the HD texture set · a batch tool you can rerun on new assets · optional model fine-tuned on your art style · before/after report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1064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 me 10 of your textures.</a:t>
            </a:r>
            <a:endParaRPr lang="en-US" sz="4200" dirty="0"/>
          </a:p>
          <a:p>
            <a:pPr indent="0" marL="0">
              <a:buNone/>
            </a:pPr>
            <a:r>
              <a:rPr lang="en-US" sz="4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I'll send them back in HD.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548640" y="3246120"/>
            <a:ext cx="265176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5" name="QR code" descr="QR code to the live dem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383280"/>
            <a:ext cx="2377440" cy="23774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657600" y="3246120"/>
            <a:ext cx="78638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Try the live demo</a:t>
            </a:r>
            <a:endParaRPr lang="en-US" sz="1800" dirty="0"/>
          </a:p>
          <a:p>
            <a:pPr indent="0" marL="0">
              <a:buNone/>
            </a:pPr>
            <a:r>
              <a:rPr lang="en-US" sz="1800" u="sng" dirty="0">
                <a:solidFill>
                  <a:schemeClr val="accent1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priyanshu-singh-git.github.io/pixelforge/</a:t>
            </a:r>
            <a:endParaRPr lang="en-US" sz="18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Code and full benchmark</a:t>
            </a:r>
            <a:endParaRPr lang="en-US" sz="1800" dirty="0"/>
          </a:p>
          <a:p>
            <a:pPr indent="0" marL="0">
              <a:buNone/>
            </a:pPr>
            <a:r>
              <a:rPr lang="en-US" sz="1800" u="sng" dirty="0">
                <a:solidFill>
                  <a:schemeClr val="accent1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github.com/Priyanshu-Singh-git/pixelforge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Priyanshu Singh · Freelance AI / ML Engineer · Trained on Poly Haven CC0 textures. Commercial use of the code needs a licence; see the repo.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FOR ENGINEERS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Benchmarked, not guessed.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Held-out test set: 60 game textures, realistic degradation, ×4. PSNR/SSIM higher is better; LPIPS lower is better.</a:t>
            </a:r>
            <a:endParaRPr lang="en-US" sz="1300" dirty="0"/>
          </a:p>
        </p:txBody>
      </p:sp>
      <p:graphicFrame>
        <p:nvGraphicFramePr>
          <p:cNvPr id="10" name="Benchmar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91672" cy="914400"/>
        </p:xfrm>
        <a:graphic>
          <a:graphicData uri="http://schemas.openxmlformats.org/drawingml/2006/table">
            <a:tbl>
              <a:tblPr/>
              <a:tblGrid>
                <a:gridCol w="4873752"/>
                <a:gridCol w="1188720"/>
                <a:gridCol w="1188720"/>
                <a:gridCol w="1188720"/>
                <a:gridCol w="1463040"/>
                <a:gridCol w="11887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PSNR ↑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SSIM ↑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LPIPS ↓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GPU ms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Bicubic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29.31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Lanczos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29.24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Real-ESRGAN x4plus (pretrained)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16.70M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27.76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185.4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Real-ESRGAN general-v3 (pretrained)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1.21M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PixelForge SRVGG-S, L1 ★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PixelForge RRDB-S, L1 ★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1.12M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29.73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PixelForge RRDB-S, GAN ★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1.12M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28.76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4617720"/>
            <a:ext cx="11064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chemeClr val="tx2"/>
                </a:solidFill>
              </a:rPr>
              <a:t>Architecture: the 7× smaller SRVGG-S (0.16M) gets within 0.07 dB PSNR of RRDB-S (1.12M) and slightly better LPIPS (0.636 vs 0.659), at 15 vs 39 ms: a strong candidate for real-time use.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chemeClr val="tx2"/>
                </a:solidFill>
              </a:rPr>
              <a:t>L1 vs GAN: the GAN stage cuts LPIPS from 0.659 to 0.414 (looks far more real) at a cost of 0.97 dB PSNR, the classic fidelity vs realism trade-off.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chemeClr val="tx2"/>
                </a:solidFill>
              </a:rPr>
              <a:t>Versus Real-ESRGAN x4plus (trained on photos): LPIPS 0.414 vs 0.454, PSNR 28.76 vs 27.76 dB, with 15× fewer parameters.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chemeClr val="tx2"/>
                </a:solidFill>
              </a:rPr>
              <a:t>Single training run per model; synthetic degradations; pixel art and alpha channels not yet evaluated.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PixelForge">
      <a:dk1>
        <a:srgbClr val="1F2937"/>
      </a:dk1>
      <a:lt1>
        <a:srgbClr val="FFFFFF"/>
      </a:lt1>
      <a:dk2>
        <a:srgbClr val="4B5563"/>
      </a:dk2>
      <a:lt2>
        <a:srgbClr val="F6F5F4"/>
      </a:lt2>
      <a:accent1>
        <a:srgbClr val="EA580C"/>
      </a:accent1>
      <a:accent2>
        <a:srgbClr val="DC2626"/>
      </a:accent2>
      <a:accent3>
        <a:srgbClr val="F59E0B"/>
      </a:accent3>
      <a:accent4>
        <a:srgbClr val="B91C1C"/>
      </a:accent4>
      <a:accent5>
        <a:srgbClr val="6B7280"/>
      </a:accent5>
      <a:accent6>
        <a:srgbClr val="E5E7EB"/>
      </a:accent6>
      <a:hlink>
        <a:srgbClr val="EA580C"/>
      </a:hlink>
      <a:folHlink>
        <a:srgbClr val="B91C1C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PixelForge: 4x game texture upscaler</dc:title>
  <dc:subject>PptxGenJS Presentation</dc:subject>
  <dc:creator>Priyanshu Singh</dc:creator>
  <cp:lastModifiedBy>Priyanshu Singh</cp:lastModifiedBy>
  <cp:revision>1</cp:revision>
  <dcterms:created xsi:type="dcterms:W3CDTF">2026-10-02T16:53:50Z</dcterms:created>
  <dcterms:modified xsi:type="dcterms:W3CDTF">2026-10-02T16:53:50Z</dcterms:modified>
</cp:coreProperties>
</file>